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4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94560" y="-2560320"/>
            <a:ext cx="5669280" cy="5669280"/>
          </a:xfrm>
          <a:prstGeom prst="ellipse">
            <a:avLst/>
          </a:prstGeom>
          <a:solidFill>
            <a:srgbClr val="4F7C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3931920"/>
            <a:ext cx="6035040" cy="6035040"/>
          </a:xfrm>
          <a:prstGeom prst="ellipse">
            <a:avLst/>
          </a:prstGeom>
          <a:solidFill>
            <a:srgbClr val="9B6B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143000"/>
            <a:ext cx="30476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4F7CFF"/>
                </a:solidFill>
                <a:latin typeface="Segoe UI"/>
              </a:rPr>
              <a:t>终评展示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5F7FA"/>
                </a:solidFill>
                <a:latin typeface="Segoe UI"/>
              </a:rPr>
              <a:t>学途智伴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6048" y="2971800"/>
            <a:ext cx="2286000" cy="50292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6289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A93A6"/>
                </a:solidFill>
                <a:latin typeface="Segoe UI"/>
              </a:rPr>
              <a:t>面向初中生的 AI 学习智能体应用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3628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478"/>
                </a:solidFill>
                <a:latin typeface="Segoe UI"/>
              </a:rPr>
              <a:t>2026 北京青少年人工智能应用实践活动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478"/>
                </a:solidFill>
                <a:latin typeface="Segoe UI"/>
              </a:rPr>
              <a:t>学途智伴 · 终评展示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217920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5B647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94560" y="-2560320"/>
            <a:ext cx="5669280" cy="5669280"/>
          </a:xfrm>
          <a:prstGeom prst="ellipse">
            <a:avLst/>
          </a:prstGeom>
          <a:solidFill>
            <a:srgbClr val="4F7C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3931920"/>
            <a:ext cx="6035040" cy="6035040"/>
          </a:xfrm>
          <a:prstGeom prst="ellipse">
            <a:avLst/>
          </a:prstGeom>
          <a:solidFill>
            <a:srgbClr val="9B6B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029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5F7FA"/>
                </a:solidFill>
                <a:latin typeface="Segoe UI"/>
                <a:ea typeface="微软雅黑"/>
              </a:rPr>
              <a:t>学途智伴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6478"/>
                </a:solidFill>
                <a:latin typeface="Segoe UI"/>
                <a:ea typeface="微软雅黑"/>
              </a:rPr>
              <a:t>面向初中生的 AI 学习智能体应用 · 2026 北京青少年人工智能应用实践活动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2763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F7FA"/>
                </a:solidFill>
                <a:latin typeface="Segoe UI"/>
                <a:ea typeface="微软雅黑"/>
              </a:rPr>
              <a:t>目  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31720"/>
            <a:ext cx="3602736" cy="32918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578608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4F7CFF"/>
                </a:solidFill>
                <a:latin typeface="Segoe UI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09067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F7FA"/>
                </a:solidFill>
                <a:latin typeface="Segoe UI"/>
                <a:ea typeface="微软雅黑"/>
              </a:rPr>
              <a:t>创作思想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70332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为什么做：痛点与机会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331720"/>
            <a:ext cx="3602736" cy="32918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2578608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B6BFF"/>
                </a:solidFill>
                <a:latin typeface="Segoe UI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09067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F7FA"/>
                </a:solidFill>
                <a:latin typeface="Segoe UI"/>
                <a:ea typeface="微软雅黑"/>
              </a:rPr>
              <a:t>功能介绍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70332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教材导入 · 试卷错题导入 · 周报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2331720"/>
            <a:ext cx="3602736" cy="32918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578608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B6BFF"/>
                </a:solidFill>
                <a:latin typeface="Segoe UI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090672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F7FA"/>
                </a:solidFill>
                <a:latin typeface="Segoe UI"/>
                <a:ea typeface="微软雅黑"/>
              </a:rPr>
              <a:t>创作方式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70332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与 AI 开发 · 可靠性与人工确认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488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4F7CFF"/>
                </a:solidFill>
                <a:latin typeface="Segoe UI"/>
                <a:ea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063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5F7FA"/>
                </a:solidFill>
                <a:latin typeface="Segoe UI"/>
                <a:ea typeface="微软雅黑"/>
              </a:rPr>
              <a:t>创作思想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3248" y="3977639"/>
            <a:ext cx="1371600" cy="18288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8A93A6"/>
                </a:solidFill>
                <a:latin typeface="Segoe UI"/>
                <a:ea typeface="微软雅黑"/>
              </a:rPr>
              <a:t>从一个中学生自己的学习困扰出发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Segoe UI"/>
                <a:ea typeface="微软雅黑"/>
              </a:rPr>
              <a:t>创作思想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Segoe UI"/>
                <a:ea typeface="微软雅黑"/>
              </a:rPr>
              <a:t>用户痛点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8A93A6"/>
                </a:solidFill>
                <a:latin typeface="Segoe UI"/>
                <a:ea typeface="微软雅黑"/>
              </a:rPr>
              <a:t>自己整理错题本的真实困扰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83664"/>
            <a:ext cx="11064240" cy="1097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78177"/>
            <a:ext cx="1554480" cy="21945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286000"/>
            <a:ext cx="3602736" cy="246888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52374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7CFF"/>
                </a:solidFill>
                <a:latin typeface="Segoe UI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260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Segoe UI"/>
                <a:ea typeface="微软雅黑"/>
              </a:rPr>
              <a:t>太耗时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0156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8A93A6"/>
                </a:solidFill>
                <a:latin typeface="Segoe UI"/>
                <a:ea typeface="微软雅黑"/>
              </a:rPr>
              <a:t>一道道抄写、整理，占用了大量时间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286000"/>
            <a:ext cx="3602736" cy="246888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52374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7CFF"/>
                </a:solidFill>
                <a:latin typeface="Segoe UI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9260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Segoe UI"/>
                <a:ea typeface="微软雅黑"/>
              </a:rPr>
              <a:t>复习不及时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40156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8A93A6"/>
                </a:solidFill>
                <a:latin typeface="Segoe UI"/>
                <a:ea typeface="微软雅黑"/>
              </a:rPr>
              <a:t>写完就放在一边，后来想不起来再看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2286000"/>
            <a:ext cx="3602736" cy="246888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252374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7CFF"/>
                </a:solidFill>
                <a:latin typeface="Segoe UI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9260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5F7FA"/>
                </a:solidFill>
                <a:latin typeface="Segoe UI"/>
                <a:ea typeface="微软雅黑"/>
              </a:rPr>
              <a:t>看不出问题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340156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8A93A6"/>
                </a:solidFill>
                <a:latin typeface="Segoe UI"/>
                <a:ea typeface="微软雅黑"/>
              </a:rPr>
              <a:t>只知道错了哪道，看不出背后的原因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25780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5F7FA"/>
                </a:solidFill>
                <a:latin typeface="Segoe UI"/>
                <a:ea typeface="微软雅黑"/>
              </a:rPr>
              <a:t>于是想做一个能真正帮上忙的工具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Segoe UI"/>
                <a:ea typeface="微软雅黑"/>
              </a:rPr>
              <a:t>创作思想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Segoe UI"/>
                <a:ea typeface="微软雅黑"/>
              </a:rPr>
              <a:t>机会：AI 能完成以前做不到的事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64240" cy="1097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39265"/>
            <a:ext cx="1554480" cy="21945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194560"/>
            <a:ext cx="5212080" cy="338328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E7688"/>
                </a:solidFill>
                <a:latin typeface="Segoe UI"/>
                <a:ea typeface="微软雅黑"/>
              </a:rPr>
              <a:t>以前做不到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07792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8A93A6"/>
                </a:solidFill>
                <a:latin typeface="Segoe UI"/>
                <a:ea typeface="微软雅黑"/>
              </a:rPr>
              <a:t>· 手动整理费时、容易遗漏</a:t>
            </a:r>
          </a:p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8A93A6"/>
                </a:solidFill>
                <a:latin typeface="Segoe UI"/>
                <a:ea typeface="微软雅黑"/>
              </a:rPr>
              <a:t>· 识别不准，难以结构化</a:t>
            </a:r>
          </a:p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8A93A6"/>
                </a:solidFill>
                <a:latin typeface="Segoe UI"/>
                <a:ea typeface="微软雅黑"/>
              </a:rPr>
              <a:t>· 无法持续记忆、反复遗忘</a:t>
            </a:r>
          </a:p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8A93A6"/>
                </a:solidFill>
                <a:latin typeface="Segoe UI"/>
                <a:ea typeface="微软雅黑"/>
              </a:rPr>
              <a:t>· 难以从错题看到深层原因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2194560"/>
            <a:ext cx="5486400" cy="338328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39572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F7CFF"/>
                </a:solidFill>
                <a:latin typeface="Segoe UI"/>
                <a:ea typeface="微软雅黑"/>
              </a:rPr>
              <a:t>现在 AI 能做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907792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F5F7FA"/>
                </a:solidFill>
                <a:latin typeface="Segoe UI"/>
                <a:ea typeface="微软雅黑"/>
              </a:rPr>
              <a:t>· 自动切题、识别题干与作答</a:t>
            </a:r>
          </a:p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F5F7FA"/>
                </a:solidFill>
                <a:latin typeface="Segoe UI"/>
                <a:ea typeface="微软雅黑"/>
              </a:rPr>
              <a:t>· 理解教材，生成知识地图</a:t>
            </a:r>
          </a:p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F5F7FA"/>
                </a:solidFill>
                <a:latin typeface="Segoe UI"/>
                <a:ea typeface="微软雅黑"/>
              </a:rPr>
              <a:t>· 持续记录，形成短期/长期记忆</a:t>
            </a:r>
          </a:p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F5F7FA"/>
                </a:solidFill>
                <a:latin typeface="Segoe UI"/>
                <a:ea typeface="微软雅黑"/>
              </a:rPr>
              <a:t>· 输出结构化的发现与建议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0644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5F7FA"/>
                </a:solidFill>
                <a:latin typeface="Segoe UI"/>
                <a:ea typeface="微软雅黑"/>
              </a:rPr>
              <a:t>所以设计出用 AI 智能体辅助学习的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488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9B6BFF"/>
                </a:solidFill>
                <a:latin typeface="Segoe UI"/>
                <a:ea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063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5F7FA"/>
                </a:solidFill>
                <a:latin typeface="Segoe UI"/>
                <a:ea typeface="微软雅黑"/>
              </a:rPr>
              <a:t>功能介绍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3248" y="3977639"/>
            <a:ext cx="1371600" cy="18288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8A93A6"/>
                </a:solidFill>
                <a:latin typeface="Segoe UI"/>
                <a:ea typeface="微软雅黑"/>
              </a:rPr>
              <a:t>讲底层逻辑，不讲表面操作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92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8A93A6"/>
                </a:solidFill>
                <a:latin typeface="Segoe UI"/>
                <a:ea typeface="微软雅黑"/>
              </a:rPr>
              <a:t>教材导入  ·  试卷错题导入  ·  周报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Segoe UI"/>
                <a:ea typeface="微软雅黑"/>
              </a:rPr>
              <a:t>功能介绍 · 教材导入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Segoe UI"/>
                <a:ea typeface="微软雅黑"/>
              </a:rPr>
              <a:t>上传教材，生成知识地图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8A93A6"/>
                </a:solidFill>
                <a:latin typeface="Segoe UI"/>
                <a:ea typeface="微软雅黑"/>
              </a:rPr>
              <a:t>让 Hermes 先建立“学什么”的参照系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83664"/>
            <a:ext cx="11064240" cy="1097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78177"/>
            <a:ext cx="1554480" cy="21945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377440"/>
            <a:ext cx="11064240" cy="749808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Segoe UI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4688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5F7FA"/>
                </a:solidFill>
                <a:latin typeface="Segoe UI"/>
                <a:ea typeface="微软雅黑"/>
              </a:rPr>
              <a:t>上传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42032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A93A6"/>
                </a:solidFill>
                <a:latin typeface="Segoe UI"/>
                <a:ea typeface="微软雅黑"/>
              </a:rPr>
              <a:t>教材电子版（PDF / 文本）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91840"/>
            <a:ext cx="11064240" cy="749808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Segoe UI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3832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5F7FA"/>
                </a:solidFill>
                <a:latin typeface="Segoe UI"/>
                <a:ea typeface="微软雅黑"/>
              </a:rPr>
              <a:t>结构化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456432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A93A6"/>
                </a:solidFill>
                <a:latin typeface="Segoe UI"/>
                <a:ea typeface="微软雅黑"/>
              </a:rPr>
              <a:t>Hermes 拆出章节 → 小节 → 知识点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06240"/>
            <a:ext cx="11064240" cy="749808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70831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Segoe UI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297679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5F7FA"/>
                </a:solidFill>
                <a:latin typeface="Segoe UI"/>
                <a:ea typeface="微软雅黑"/>
              </a:rPr>
              <a:t>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370831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A93A6"/>
                </a:solidFill>
                <a:latin typeface="Segoe UI"/>
                <a:ea typeface="微软雅黑"/>
              </a:rPr>
              <a:t>生成可引用的知识地图（Roadmap）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20640"/>
            <a:ext cx="11064240" cy="749808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85231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F7CFF"/>
                </a:solidFill>
                <a:latin typeface="Segoe UI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212079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5F7FA"/>
                </a:solidFill>
                <a:latin typeface="Segoe UI"/>
                <a:ea typeface="微软雅黑"/>
              </a:rPr>
              <a:t>分析板块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285231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A93A6"/>
                </a:solidFill>
                <a:latin typeface="Segoe UI"/>
                <a:ea typeface="微软雅黑"/>
              </a:rPr>
              <a:t>自动整理各知识板块的结构与关系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93A6"/>
                </a:solidFill>
                <a:latin typeface="Segoe UI"/>
                <a:ea typeface="微软雅黑"/>
              </a:rPr>
              <a:t>作用：后续每道错题都能挂到具体知识点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Segoe UI"/>
                <a:ea typeface="微软雅黑"/>
              </a:rPr>
              <a:t>功能介绍 · 试卷错题导入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Segoe UI"/>
                <a:ea typeface="微软雅黑"/>
              </a:rPr>
              <a:t>从题目定位到深层问题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8A93A6"/>
                </a:solidFill>
                <a:latin typeface="Segoe UI"/>
                <a:ea typeface="微软雅黑"/>
              </a:rPr>
              <a:t>AI 切题，学生指定错题和重点题，Hermes 对照知识地图归因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83664"/>
            <a:ext cx="11064240" cy="1097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78177"/>
            <a:ext cx="1554480" cy="21945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212848"/>
            <a:ext cx="11064240" cy="603504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4086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F7CFF"/>
                </a:solidFill>
                <a:latin typeface="Segoe UI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2257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Segoe UI"/>
                <a:ea typeface="微软雅黑"/>
              </a:rPr>
              <a:t>上传照片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40864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Segoe UI"/>
                <a:ea typeface="微软雅黑"/>
              </a:rPr>
              <a:t>试卷 / 练习照片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26080"/>
            <a:ext cx="11064240" cy="603504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054096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F7CFF"/>
                </a:solidFill>
                <a:latin typeface="Segoe UI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03580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Segoe UI"/>
                <a:ea typeface="微软雅黑"/>
              </a:rPr>
              <a:t>自动切题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054096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Segoe UI"/>
                <a:ea typeface="微软雅黑"/>
              </a:rPr>
              <a:t>AI 切出题目，识别题干与作答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39312"/>
            <a:ext cx="11064240" cy="603504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6732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F7CFF"/>
                </a:solidFill>
                <a:latin typeface="Segoe UI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7490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Segoe UI"/>
                <a:ea typeface="微软雅黑"/>
              </a:rPr>
              <a:t>学生指定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76732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Segoe UI"/>
                <a:ea typeface="微软雅黑"/>
              </a:rPr>
              <a:t>标记错题和重点题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52544"/>
            <a:ext cx="11064240" cy="603504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4805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F7CFF"/>
                </a:solidFill>
                <a:latin typeface="Segoe UI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46227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Segoe UI"/>
                <a:ea typeface="微软雅黑"/>
              </a:rPr>
              <a:t>上传 Hermes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48056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Segoe UI"/>
                <a:ea typeface="微软雅黑"/>
              </a:rPr>
              <a:t>把确认结果交给 Hermes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65776"/>
            <a:ext cx="11064240" cy="603504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19379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F7CFF"/>
                </a:solidFill>
                <a:latin typeface="Segoe UI"/>
                <a:ea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17550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Segoe UI"/>
                <a:ea typeface="微软雅黑"/>
              </a:rPr>
              <a:t>定位知识点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193792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Segoe UI"/>
                <a:ea typeface="微软雅黑"/>
              </a:rPr>
              <a:t>对照 Roadmap 找到对应模块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779008"/>
            <a:ext cx="11064240" cy="603504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90702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F7CFF"/>
                </a:solidFill>
                <a:latin typeface="Segoe UI"/>
                <a:ea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8887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Segoe UI"/>
                <a:ea typeface="微软雅黑"/>
              </a:rPr>
              <a:t>分析深层问题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907024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3A6"/>
                </a:solidFill>
                <a:latin typeface="Segoe UI"/>
                <a:ea typeface="微软雅黑"/>
              </a:rPr>
              <a:t>生成 findings + 待确定记忆 + 行动候选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9B6BFF"/>
                </a:solidFill>
                <a:latin typeface="Segoe UI"/>
                <a:ea typeface="微软雅黑"/>
              </a:rPr>
              <a:t>关键：深层问题记为局部发现（finding），不直接升级成见解（insight）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Segoe UI"/>
                <a:ea typeface="微软雅黑"/>
              </a:rPr>
              <a:t>功能介绍 · 周报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Segoe UI"/>
                <a:ea typeface="微软雅黑"/>
              </a:rPr>
              <a:t>把一周的发现合并成见解与行动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8A93A6"/>
                </a:solidFill>
                <a:latin typeface="Segoe UI"/>
                <a:ea typeface="微软雅黑"/>
              </a:rPr>
              <a:t>consolidation：多个 findings → insights → 周报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83664"/>
            <a:ext cx="11064240" cy="1097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78177"/>
            <a:ext cx="1554480" cy="21945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212848"/>
            <a:ext cx="6766560" cy="804672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40864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F7CFF"/>
                </a:solidFill>
                <a:latin typeface="Segoe UI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32257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Segoe UI"/>
                <a:ea typeface="微软雅黑"/>
              </a:rPr>
              <a:t>汇总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04288"/>
            <a:ext cx="3657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本周 findings、重点题、备注、记忆、知识地图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5536"/>
            <a:ext cx="6766560" cy="804672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27355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F7CFF"/>
                </a:solidFill>
                <a:latin typeface="Segoe UI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25526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Segoe UI"/>
                <a:ea typeface="微软雅黑"/>
              </a:rPr>
              <a:t>分组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36976"/>
            <a:ext cx="3657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按学科、知识点、问题模式归类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78224"/>
            <a:ext cx="6766560" cy="804672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20624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F7CFF"/>
                </a:solidFill>
                <a:latin typeface="Segoe UI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87952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Segoe UI"/>
                <a:ea typeface="微软雅黑"/>
              </a:rPr>
              <a:t>合并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169663"/>
            <a:ext cx="3657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识别重复或高优先级模式，形成 insights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10912"/>
            <a:ext cx="6766560" cy="804672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13892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F7CFF"/>
                </a:solidFill>
                <a:latin typeface="Segoe UI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1206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F7FA"/>
                </a:solidFill>
                <a:latin typeface="Segoe UI"/>
                <a:ea typeface="微软雅黑"/>
              </a:rPr>
              <a:t>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102352"/>
            <a:ext cx="3657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跨学科总览 + 各学科分区 + 建议 + 下周行动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07808" y="2212848"/>
            <a:ext cx="4023360" cy="310896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82127" y="2395728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Segoe UI"/>
                <a:ea typeface="微软雅黑"/>
              </a:rPr>
              <a:t>四条规则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7" y="2852928"/>
            <a:ext cx="35661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· 不重新分析原始材料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· 不把一次小错夸成趋势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· 无数据学科显示 no_data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· 行动少而可执行、可追溯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1488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9B6BFF"/>
                </a:solidFill>
                <a:latin typeface="Segoe UI"/>
                <a:ea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063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5F7FA"/>
                </a:solidFill>
                <a:latin typeface="Segoe UI"/>
                <a:ea typeface="微软雅黑"/>
              </a:rPr>
              <a:t>创作方式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3248" y="3977639"/>
            <a:ext cx="1371600" cy="18288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2062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8A93A6"/>
                </a:solidFill>
                <a:latin typeface="Segoe UI"/>
                <a:ea typeface="微软雅黑"/>
              </a:rPr>
              <a:t>与 AI 协作，用工程方法保证质量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Segoe UI"/>
                <a:ea typeface="微软雅黑"/>
              </a:rPr>
              <a:t>创作方式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Segoe UI"/>
                <a:ea typeface="微软雅黑"/>
              </a:rPr>
              <a:t>与 AI 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8A93A6"/>
                </a:solidFill>
                <a:latin typeface="Segoe UI"/>
                <a:ea typeface="微软雅黑"/>
              </a:rPr>
              <a:t>一个人、6 天、从 0 交付完整工程，需要人机分工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83664"/>
            <a:ext cx="11064240" cy="1097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78177"/>
            <a:ext cx="1554480" cy="21945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194560"/>
            <a:ext cx="5212080" cy="32918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48716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4F7CFF"/>
                </a:solidFill>
                <a:latin typeface="Segoe UI"/>
                <a:ea typeface="微软雅黑"/>
              </a:rPr>
              <a:t>人负责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99232"/>
            <a:ext cx="4663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F5F7FA"/>
                </a:solidFill>
                <a:latin typeface="Segoe UI"/>
                <a:ea typeface="微软雅黑"/>
              </a:rPr>
              <a:t>需求定义 · 架构设计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F5F7FA"/>
                </a:solidFill>
                <a:latin typeface="Segoe UI"/>
                <a:ea typeface="微软雅黑"/>
              </a:rPr>
              <a:t>任务拆解 · 质量验收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194560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48716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9B6BFF"/>
                </a:solidFill>
                <a:latin typeface="Segoe UI"/>
                <a:ea typeface="微软雅黑"/>
              </a:rPr>
              <a:t>AI 负责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999232"/>
            <a:ext cx="4937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F5F7FA"/>
                </a:solidFill>
                <a:latin typeface="Segoe UI"/>
                <a:ea typeface="微软雅黑"/>
              </a:rPr>
              <a:t>编码实现 · 调试修复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F5F7FA"/>
                </a:solidFill>
                <a:latin typeface="Segoe UI"/>
                <a:ea typeface="微软雅黑"/>
              </a:rPr>
              <a:t>运行验证 · 方案建议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806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5F7FA"/>
                </a:solidFill>
                <a:latin typeface="Segoe UI"/>
                <a:ea typeface="微软雅黑"/>
              </a:rPr>
              <a:t>我定方向与规则，AI 负责实现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Segoe UI"/>
                <a:ea typeface="微软雅黑"/>
              </a:rPr>
              <a:t>创作方式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Segoe UI"/>
                <a:ea typeface="微软雅黑"/>
              </a:rPr>
              <a:t>如何保证 AI 产出准确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8A93A6"/>
                </a:solidFill>
                <a:latin typeface="Segoe UI"/>
                <a:ea typeface="微软雅黑"/>
              </a:rPr>
              <a:t>不是让 AI 随便写，而是给它明确的题目、格式和及格线，再逐项验收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83664"/>
            <a:ext cx="11064240" cy="1097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78177"/>
            <a:ext cx="1554480" cy="21945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286000"/>
            <a:ext cx="2651760" cy="28346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487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7CFF"/>
                </a:solidFill>
                <a:latin typeface="Segoe UI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16352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5F7FA"/>
                </a:solidFill>
                <a:latin typeface="Segoe UI"/>
                <a:ea typeface="微软雅黑"/>
              </a:rPr>
              <a:t>先把要做的事写清楚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6118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8A93A6"/>
                </a:solidFill>
                <a:latin typeface="Segoe UI"/>
                <a:ea typeface="微软雅黑"/>
              </a:rPr>
              <a:t>产品要做什么、数据长什么样，都提前定好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286000"/>
            <a:ext cx="2651760" cy="28346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487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7CFF"/>
                </a:solidFill>
                <a:latin typeface="Segoe UI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816352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5F7FA"/>
                </a:solidFill>
                <a:latin typeface="Segoe UI"/>
                <a:ea typeface="微软雅黑"/>
              </a:rPr>
              <a:t>每个任务列验收清单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6118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8A93A6"/>
                </a:solidFill>
                <a:latin typeface="Segoe UI"/>
                <a:ea typeface="微软雅黑"/>
              </a:rPr>
              <a:t>目标、验收标准、边界都写进 issue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286000"/>
            <a:ext cx="2651760" cy="28346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487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7CFF"/>
                </a:solidFill>
                <a:latin typeface="Segoe UI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16352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5F7FA"/>
                </a:solidFill>
                <a:latin typeface="Segoe UI"/>
                <a:ea typeface="微软雅黑"/>
              </a:rPr>
              <a:t>输出固定格式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118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8A93A6"/>
                </a:solidFill>
                <a:latin typeface="Segoe UI"/>
                <a:ea typeface="微软雅黑"/>
              </a:rPr>
              <a:t>让 AI 输出结构化 JSON，而不是自由作文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15984" y="2286000"/>
            <a:ext cx="2651760" cy="283464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2487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7CFF"/>
                </a:solidFill>
                <a:latin typeface="Segoe UI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2816352"/>
            <a:ext cx="2286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5F7FA"/>
                </a:solidFill>
                <a:latin typeface="Segoe UI"/>
                <a:ea typeface="微软雅黑"/>
              </a:rPr>
              <a:t>每步检查通过才算完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36118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8A93A6"/>
                </a:solidFill>
                <a:latin typeface="Segoe UI"/>
                <a:ea typeface="微软雅黑"/>
              </a:rPr>
              <a:t>构建、校验、测试都通过，才算完成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Segoe UI"/>
                <a:ea typeface="微软雅黑"/>
              </a:rPr>
              <a:t>创作方式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Segoe UI"/>
                <a:ea typeface="微软雅黑"/>
              </a:rPr>
              <a:t>一个完整的任务闭环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64240" cy="1097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39265"/>
            <a:ext cx="1554480" cy="21945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194560"/>
            <a:ext cx="5212080" cy="384048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Segoe UI"/>
                <a:ea typeface="微软雅黑"/>
              </a:rPr>
              <a:t>任务流程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8950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7CFF"/>
                </a:solidFill>
                <a:latin typeface="Segoe UI"/>
                <a:ea typeface="微软雅黑"/>
              </a:rPr>
              <a:t>1  </a:t>
            </a:r>
            <a:r>
              <a:rPr sz="1250" b="0" i="0">
                <a:solidFill>
                  <a:srgbClr val="F5F7FA"/>
                </a:solidFill>
                <a:latin typeface="Segoe UI"/>
                <a:ea typeface="微软雅黑"/>
              </a:rPr>
              <a:t>我写 issue：目标、验收、边界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49300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7CFF"/>
                </a:solidFill>
                <a:latin typeface="Segoe UI"/>
                <a:ea typeface="微软雅黑"/>
              </a:rPr>
              <a:t>2  </a:t>
            </a:r>
            <a:r>
              <a:rPr sz="1250" b="0" i="0">
                <a:solidFill>
                  <a:srgbClr val="F5F7FA"/>
                </a:solidFill>
                <a:latin typeface="Segoe UI"/>
                <a:ea typeface="微软雅黑"/>
              </a:rPr>
              <a:t>AI 按 issue 实现代码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09651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7CFF"/>
                </a:solidFill>
                <a:latin typeface="Segoe UI"/>
                <a:ea typeface="微软雅黑"/>
              </a:rPr>
              <a:t>3  </a:t>
            </a:r>
            <a:r>
              <a:rPr sz="1250" b="0" i="0">
                <a:solidFill>
                  <a:srgbClr val="F5F7FA"/>
                </a:solidFill>
                <a:latin typeface="Segoe UI"/>
                <a:ea typeface="微软雅黑"/>
              </a:rPr>
              <a:t>运行构建与校验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0001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7CFF"/>
                </a:solidFill>
                <a:latin typeface="Segoe UI"/>
                <a:ea typeface="微软雅黑"/>
              </a:rPr>
              <a:t>4  </a:t>
            </a:r>
            <a:r>
              <a:rPr sz="1250" b="0" i="0">
                <a:solidFill>
                  <a:srgbClr val="F5F7FA"/>
                </a:solidFill>
                <a:latin typeface="Segoe UI"/>
                <a:ea typeface="微软雅黑"/>
              </a:rPr>
              <a:t>我审核结果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3035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7CFF"/>
                </a:solidFill>
                <a:latin typeface="Segoe UI"/>
                <a:ea typeface="微软雅黑"/>
              </a:rPr>
              <a:t>5  </a:t>
            </a:r>
            <a:r>
              <a:rPr sz="1250" b="0" i="0">
                <a:solidFill>
                  <a:srgbClr val="F5F7FA"/>
                </a:solidFill>
                <a:latin typeface="Segoe UI"/>
                <a:ea typeface="微软雅黑"/>
              </a:rPr>
              <a:t>通过后关闭 issue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194560"/>
            <a:ext cx="5486400" cy="384048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39572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Segoe UI"/>
                <a:ea typeface="微软雅黑"/>
              </a:rPr>
              <a:t>示例：Issue #7 重点题确认编辑器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87121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B6BFF"/>
                </a:solidFill>
                <a:latin typeface="Segoe UI"/>
                <a:ea typeface="微软雅黑"/>
              </a:rPr>
              <a:t>目标  </a:t>
            </a: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实现重点题确认编辑器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41985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B6BFF"/>
                </a:solidFill>
                <a:latin typeface="Segoe UI"/>
                <a:ea typeface="微软雅黑"/>
              </a:rPr>
              <a:t>输入  </a:t>
            </a: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question_split_result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96849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B6BFF"/>
                </a:solidFill>
                <a:latin typeface="Segoe UI"/>
                <a:ea typeface="微软雅黑"/>
              </a:rPr>
              <a:t>输出  </a:t>
            </a: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confirmation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51713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B6BFF"/>
                </a:solidFill>
                <a:latin typeface="Segoe UI"/>
                <a:ea typeface="微软雅黑"/>
              </a:rPr>
              <a:t>验收  </a:t>
            </a: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字段符合 contract v1.1，build 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5065775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B6BFF"/>
                </a:solidFill>
                <a:latin typeface="Segoe UI"/>
                <a:ea typeface="微软雅黑"/>
              </a:rPr>
              <a:t>边界  </a:t>
            </a: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不做真实上传 / OCR / 后端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Segoe UI"/>
                <a:ea typeface="微软雅黑"/>
              </a:rPr>
              <a:t>创作方式 · 人工确认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Segoe UI"/>
                <a:ea typeface="微软雅黑"/>
              </a:rPr>
              <a:t>为什么需要学生确认重点题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8A93A6"/>
                </a:solidFill>
                <a:latin typeface="Segoe UI"/>
                <a:ea typeface="微软雅黑"/>
              </a:rPr>
              <a:t>AI 会看错，重点题必须由人判断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83664"/>
            <a:ext cx="11064240" cy="1097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78177"/>
            <a:ext cx="1554480" cy="21945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240280"/>
            <a:ext cx="3602736" cy="265176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48716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7CFF"/>
                </a:solidFill>
                <a:latin typeface="Segoe UI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80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Segoe UI"/>
                <a:ea typeface="微软雅黑"/>
              </a:rPr>
              <a:t>识别有误差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33756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手写、老师批改、扣分原因，OCR 和模型都可能看错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240280"/>
            <a:ext cx="3602736" cy="265176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48716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7CFF"/>
                </a:solidFill>
                <a:latin typeface="Segoe UI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880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Segoe UI"/>
                <a:ea typeface="微软雅黑"/>
              </a:rPr>
              <a:t>重点题需要人的判断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33756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哪道题真正重要、值得复习，只有学生最清楚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2240280"/>
            <a:ext cx="3602736" cy="265176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248716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7CFF"/>
                </a:solidFill>
                <a:latin typeface="Segoe UI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880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F7FA"/>
                </a:solidFill>
                <a:latin typeface="Segoe UI"/>
                <a:ea typeface="微软雅黑"/>
              </a:rPr>
              <a:t>确认后才可信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333756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先确认，AI 的分析才有可靠输入，不会拿错误当结论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34924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5F7FA"/>
                </a:solidFill>
                <a:latin typeface="Segoe UI"/>
                <a:ea typeface="微软雅黑"/>
              </a:rPr>
              <a:t>AI 做感知与总结，人做关键判断——人工确认是质量闸门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Segoe UI"/>
                <a:ea typeface="微软雅黑"/>
              </a:rPr>
              <a:t>创作方式 · 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Segoe UI"/>
                <a:ea typeface="微软雅黑"/>
              </a:rPr>
              <a:t>从错题到可执行行动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64240" cy="1097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39265"/>
            <a:ext cx="1554480" cy="21945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194560"/>
            <a:ext cx="5212080" cy="384048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Segoe UI"/>
                <a:ea typeface="微软雅黑"/>
              </a:rPr>
              <a:t>核心主张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34640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F5F7FA"/>
                </a:solidFill>
                <a:latin typeface="Segoe UI"/>
                <a:ea typeface="微软雅黑"/>
              </a:rPr>
              <a:t>把“错在哪”推进到</a:t>
            </a:r>
            <a:r>
              <a:rPr sz="1700" b="1" i="0">
                <a:solidFill>
                  <a:srgbClr val="4F7CFF"/>
                </a:solidFill>
                <a:latin typeface="Segoe UI"/>
                <a:ea typeface="微软雅黑"/>
              </a:rPr>
              <a:t>“为什么错”</a:t>
            </a:r>
            <a:r>
              <a:rPr sz="1700" b="1" i="0">
                <a:solidFill>
                  <a:srgbClr val="F5F7FA"/>
                </a:solidFill>
                <a:latin typeface="Segoe UI"/>
                <a:ea typeface="微软雅黑"/>
              </a:rPr>
              <a:t>和</a:t>
            </a:r>
            <a:r>
              <a:rPr sz="1700" b="1" i="0">
                <a:solidFill>
                  <a:srgbClr val="9B6BFF"/>
                </a:solidFill>
                <a:latin typeface="Segoe UI"/>
                <a:ea typeface="微软雅黑"/>
              </a:rPr>
              <a:t>“下一步怎么练”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069080"/>
            <a:ext cx="4663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8A93A6"/>
                </a:solidFill>
                <a:latin typeface="Segoe UI"/>
                <a:ea typeface="微软雅黑"/>
              </a:rPr>
              <a:t>· 可追溯：每条结论有证据来源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8A93A6"/>
                </a:solidFill>
                <a:latin typeface="Segoe UI"/>
                <a:ea typeface="微软雅黑"/>
              </a:rPr>
              <a:t>· 可执行：具体到复习什么、练几道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8A93A6"/>
                </a:solidFill>
                <a:latin typeface="Segoe UI"/>
                <a:ea typeface="微软雅黑"/>
              </a:rPr>
              <a:t>· 可复查：短期记忆 + 长期记忆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194560"/>
            <a:ext cx="5486400" cy="384048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39572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Segoe UI"/>
                <a:ea typeface="微软雅黑"/>
              </a:rPr>
              <a:t>普通错题本 vs 学途智伴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2889504"/>
            <a:ext cx="4937760" cy="914400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3145536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B6478"/>
                </a:solidFill>
                <a:latin typeface="Segoe UI"/>
                <a:ea typeface="微软雅黑"/>
              </a:rPr>
              <a:t>普通错题本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145536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3A6"/>
                </a:solidFill>
                <a:latin typeface="Segoe UI"/>
                <a:ea typeface="微软雅黑"/>
              </a:rPr>
              <a:t>反比例函数薄弱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3968496"/>
            <a:ext cx="4937760" cy="914400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4224528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9B6BFF"/>
                </a:solidFill>
                <a:latin typeface="Segoe UI"/>
                <a:ea typeface="微软雅黑"/>
              </a:rPr>
              <a:t>学途智伴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224528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3A6"/>
                </a:solidFill>
                <a:latin typeface="Segoe UI"/>
                <a:ea typeface="微软雅黑"/>
              </a:rPr>
              <a:t>对 k 正负与象限关系迁移慢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Segoe UI"/>
                <a:ea typeface="微软雅黑"/>
              </a:rPr>
              <a:t>创作方式 · 核心模型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Segoe UI"/>
                <a:ea typeface="微软雅黑"/>
              </a:rPr>
              <a:t>从学习证据到行动建议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64240" cy="1097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39265"/>
            <a:ext cx="1554480" cy="21945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194560"/>
            <a:ext cx="3291840" cy="384048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Segoe UI"/>
                <a:ea typeface="微软雅黑"/>
              </a:rPr>
              <a:t>三条规则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89504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5F7FA"/>
                </a:solidFill>
                <a:latin typeface="Segoe UI"/>
                <a:ea typeface="微软雅黑"/>
              </a:rPr>
              <a:t>finding ≠ insight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050" b="0" i="0">
                <a:solidFill>
                  <a:srgbClr val="8A93A6"/>
                </a:solidFill>
                <a:latin typeface="Segoe UI"/>
                <a:ea typeface="微软雅黑"/>
              </a:rPr>
              <a:t>单次证据只能产生局部发现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986784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5F7FA"/>
                </a:solidFill>
                <a:latin typeface="Segoe UI"/>
                <a:ea typeface="微软雅黑"/>
              </a:rPr>
              <a:t>不直接写长期记忆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050" b="0" i="0">
                <a:solidFill>
                  <a:srgbClr val="8A93A6"/>
                </a:solidFill>
                <a:latin typeface="Segoe UI"/>
                <a:ea typeface="微软雅黑"/>
              </a:rPr>
              <a:t>需重复、确认或连续周报支持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084064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5F7FA"/>
                </a:solidFill>
                <a:latin typeface="Segoe UI"/>
                <a:ea typeface="微软雅黑"/>
              </a:rPr>
              <a:t>证据不足保留不确定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050" b="0" i="0">
                <a:solidFill>
                  <a:srgbClr val="8A93A6"/>
                </a:solidFill>
                <a:latin typeface="Segoe UI"/>
                <a:ea typeface="微软雅黑"/>
              </a:rPr>
              <a:t>不编造错因与趋势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2194560"/>
            <a:ext cx="7498079" cy="384048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vidence_to_ac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331720"/>
            <a:ext cx="7132320" cy="33878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Segoe UI"/>
                <a:ea typeface="微软雅黑"/>
              </a:rPr>
              <a:t>创作方式 · 智能体引擎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Segoe UI"/>
                <a:ea typeface="微软雅黑"/>
              </a:rPr>
              <a:t>Hermes：app 内置的 LLM 智能体引擎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64240" cy="1097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39265"/>
            <a:ext cx="1554480" cy="21945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194560"/>
            <a:ext cx="2606040" cy="1005840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3042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F7CFF"/>
                </a:solidFill>
                <a:latin typeface="Segoe UI"/>
                <a:ea typeface="微软雅黑"/>
              </a:rPr>
              <a:t>Web UI /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70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3A6"/>
                </a:solidFill>
                <a:latin typeface="Segoe UI"/>
                <a:ea typeface="微软雅黑"/>
              </a:rPr>
              <a:t>触发任务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633472"/>
            <a:ext cx="219456" cy="2743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9856" y="2194560"/>
            <a:ext cx="2606040" cy="1005840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3042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B6BFF"/>
                </a:solidFill>
                <a:latin typeface="Segoe UI"/>
                <a:ea typeface="微软雅黑"/>
              </a:rPr>
              <a:t>HermesBridge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70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3A6"/>
                </a:solidFill>
                <a:latin typeface="Segoe UI"/>
                <a:ea typeface="微软雅黑"/>
              </a:rPr>
              <a:t>CLI 调用 · JSON 出入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2633472"/>
            <a:ext cx="219456" cy="2743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2784" y="2194560"/>
            <a:ext cx="2606040" cy="1005840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3042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B6BFF"/>
                </a:solidFill>
                <a:latin typeface="Segoe UI"/>
                <a:ea typeface="微软雅黑"/>
              </a:rPr>
              <a:t>Hermes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670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3A6"/>
                </a:solidFill>
                <a:latin typeface="Segoe UI"/>
                <a:ea typeface="微软雅黑"/>
              </a:rPr>
              <a:t>Skill + 校验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6256" y="2633472"/>
            <a:ext cx="219456" cy="2743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25712" y="2194560"/>
            <a:ext cx="2606040" cy="1005840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23042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E7688"/>
                </a:solidFill>
                <a:latin typeface="Segoe UI"/>
                <a:ea typeface="微软雅黑"/>
              </a:rPr>
              <a:t>DeepSeek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26700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3A6"/>
                </a:solidFill>
                <a:latin typeface="Segoe UI"/>
                <a:ea typeface="微软雅黑"/>
              </a:rPr>
              <a:t>推理 Provider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5661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Segoe UI"/>
                <a:ea typeface="微软雅黑"/>
              </a:rPr>
              <a:t>三个 Skill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05072"/>
            <a:ext cx="7040880" cy="566928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133087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5F7FA"/>
                </a:solidFill>
                <a:latin typeface="Segoe UI"/>
                <a:ea typeface="微软雅黑"/>
              </a:rPr>
              <a:t>textbook-knowledge-map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4133087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Segoe UI"/>
                <a:ea typeface="微软雅黑"/>
              </a:rPr>
              <a:t>离线：教材 → 知识地图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700016"/>
            <a:ext cx="7040880" cy="566928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828031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5F7FA"/>
                </a:solidFill>
                <a:latin typeface="Segoe UI"/>
                <a:ea typeface="微软雅黑"/>
              </a:rPr>
              <a:t>confirmed-mistake-analysis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828031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Segoe UI"/>
                <a:ea typeface="微软雅黑"/>
              </a:rPr>
              <a:t>在线：错题 → 发现 / 记忆 / 行动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394959"/>
            <a:ext cx="7040880" cy="566928"/>
          </a:xfrm>
          <a:prstGeom prst="roundRect">
            <a:avLst>
              <a:gd name="adj" fmla="val 5000"/>
            </a:avLst>
          </a:prstGeom>
          <a:solidFill>
            <a:srgbClr val="17171F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522975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5F7FA"/>
                </a:solidFill>
                <a:latin typeface="Segoe UI"/>
                <a:ea typeface="微软雅黑"/>
              </a:rPr>
              <a:t>weekly-learning-report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5522975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93A6"/>
                </a:solidFill>
                <a:latin typeface="Segoe UI"/>
                <a:ea typeface="微软雅黑"/>
              </a:rPr>
              <a:t>在线：findings → 周报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82127" y="3566160"/>
            <a:ext cx="3749039" cy="3054096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3749039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Segoe UI"/>
                <a:ea typeface="微软雅黑"/>
              </a:rPr>
              <a:t>记忆规则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4160520"/>
            <a:ext cx="3246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· 记忆以 SQLite 为准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· 学生确认后才被复用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· 会话记忆不进产品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· 输出校验后入库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Segoe UI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Segoe UI"/>
                <a:ea typeface="微软雅黑"/>
              </a:rPr>
              <a:t>我的收获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11064240" cy="10972"/>
          </a:xfrm>
          <a:prstGeom prst="rect">
            <a:avLst/>
          </a:prstGeom>
          <a:solidFill>
            <a:srgbClr val="22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39265"/>
            <a:ext cx="1554480" cy="21945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240280"/>
            <a:ext cx="3602736" cy="210312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Segoe UI"/>
                <a:ea typeface="微软雅黑"/>
              </a:rPr>
              <a:t>工程方法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92608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文档、契约、验收——先想清楚再动手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40280"/>
            <a:ext cx="3602736" cy="210312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Segoe UI"/>
                <a:ea typeface="微软雅黑"/>
              </a:rPr>
              <a:t>驾驭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92608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提出需求、拆解任务、约束输出、做判断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2240280"/>
            <a:ext cx="3602736" cy="2103120"/>
          </a:xfrm>
          <a:prstGeom prst="roundRect">
            <a:avLst>
              <a:gd name="adj" fmla="val 5000"/>
            </a:avLst>
          </a:prstGeom>
          <a:solidFill>
            <a:srgbClr val="12121A"/>
          </a:solidFill>
          <a:ln w="9525">
            <a:solidFill>
              <a:srgbClr val="22222E"/>
            </a:solidFill>
          </a:ln>
          <a:effectLst>
            <a:outerShdw blurRad="101600" dist="381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F7FA"/>
                </a:solidFill>
                <a:latin typeface="Segoe UI"/>
                <a:ea typeface="微软雅黑"/>
              </a:rPr>
              <a:t>AI 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92608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8A93A6"/>
                </a:solidFill>
                <a:latin typeface="Segoe UI"/>
                <a:ea typeface="微软雅黑"/>
              </a:rPr>
              <a:t>协作工具：负责实现与验证，决策由人负责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80060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5F7FA"/>
                </a:solidFill>
                <a:latin typeface="Segoe UI"/>
                <a:ea typeface="微软雅黑"/>
              </a:rPr>
              <a:t>人定方向，AI 实现，工程方法保障质量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6235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A93A6"/>
                </a:solidFill>
                <a:latin typeface="Segoe UI"/>
                <a:ea typeface="微软雅黑"/>
              </a:rPr>
              <a:t>作品链接  http://49.233.203.222/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Segoe UI"/>
                <a:ea typeface="微软雅黑"/>
              </a:rPr>
              <a:t>学途智伴 · 终评展示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1052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B6478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94560" y="-2560320"/>
            <a:ext cx="5669280" cy="5669280"/>
          </a:xfrm>
          <a:prstGeom prst="ellipse">
            <a:avLst/>
          </a:prstGeom>
          <a:solidFill>
            <a:srgbClr val="4F7C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3931920"/>
            <a:ext cx="6035040" cy="6035040"/>
          </a:xfrm>
          <a:prstGeom prst="ellipse">
            <a:avLst/>
          </a:prstGeom>
          <a:solidFill>
            <a:srgbClr val="9B6B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051560"/>
            <a:ext cx="30476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4F7CFF"/>
                </a:solidFill>
                <a:latin typeface="Segoe UI"/>
              </a:rPr>
              <a:t>终评展示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628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5F7FA"/>
                </a:solidFill>
                <a:latin typeface="Segoe UI"/>
              </a:rPr>
              <a:t>谢谢观看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6289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5F7FA"/>
                </a:solidFill>
                <a:latin typeface="Segoe UI"/>
              </a:rPr>
              <a:t>学途智伴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6048" y="3611880"/>
            <a:ext cx="2286000" cy="50292"/>
          </a:xfrm>
          <a:prstGeom prst="rect">
            <a:avLst/>
          </a:prstGeom>
          <a:gradFill rotWithShape="1">
            <a:gsLst>
              <a:gs pos="0">
                <a:srgbClr val="4F7CFF"/>
              </a:gs>
              <a:gs pos="100000">
                <a:srgbClr val="9B6BFF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36289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8A93A6"/>
                </a:solidFill>
                <a:latin typeface="Segoe UI"/>
              </a:rPr>
              <a:t>人定方向，AI 实现，工程方法保障质量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1036289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B6478"/>
                </a:solidFill>
                <a:latin typeface="Segoe UI"/>
              </a:rPr>
              <a:t>作品链接  http://49.233.203.222/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2179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478"/>
                </a:solidFill>
                <a:latin typeface="Segoe UI"/>
              </a:rPr>
              <a:t>学途智伴 · 终评展示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6217920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5B6478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学途智伴 · 终评展示</dc:title>
  <dc:subject>2026 北京青少年人工智能应用实践活动 · AI 智能体应用</dc:subject>
  <dc:creator>David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